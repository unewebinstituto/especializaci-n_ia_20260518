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Syne"/>
      <p:regular r:id="rId201314"/>
    </p:embeddedFont>
    <p:embeddedFont>
      <p:font typeface="Syne Bold"/>
      <p:regular r:id="rId201315"/>
    </p:embeddedFont>
    <p:embeddedFont>
      <p:font typeface="Syne Extra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216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La Inflación en Venezuela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2021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Origen, Dinámica Hiperinflacionaria y Desafíos de Estabilización Monetaria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06502"/>
            <a:ext cx="2751088" cy="215354"/>
          </a:xfrm>
          <a:prstGeom prst="roundRect">
            <a:avLst>
              <a:gd name="adj" fmla="val 22119"/>
            </a:avLst>
          </a:prstGeom>
          <a:solidFill>
            <a:srgbClr val="334805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48992"/>
            <a:ext cx="303817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COLECCIÓN ECONOMÍA CONTEMPORÁNEA ·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33934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El Enigma Monetario Venezolano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75496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Venezuela pasó de tener una de las monedas más estables de América Latina a sufrir un devastador ciclo hiperinflacionario. Este análisis evalúa las causas estructurales: emisión inorgánica, caída del ingreso petrolero, controles de cambio y precio, y tres reconversiones que eliminaron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A9F00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14 ceros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al signo nacional en 13 años.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3576"/>
            <a:ext cx="1137419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A9F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430783"/>
            <a:ext cx="1445791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CAPÍTULO 1 · 1973–1998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25525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Antecedentes Históricos: La Ruptura de la Estabilidad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85404"/>
            <a:ext cx="5192688" cy="29424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96136" y="1867495"/>
            <a:ext cx="26564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La Estabilidad Perdida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96136" y="2363688"/>
            <a:ext cx="265643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Durante gran parte del siglo XX, Venezuela mantuvo inflación de un solo dígito y tipo de cambio fijo: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4,30 Bs/$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, sustentado en la renta petrolera y política monetaria prudente del BCV.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96136" y="3216325"/>
            <a:ext cx="26564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El Viernes Negro (1983)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96136" y="3712518"/>
            <a:ext cx="265643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 18 de febrero de 1983, el agotamiento de reservas y el incremento de la deuda externa forzaron la devaluación y el régimen RECADI. La inflación se volvió crónica de dos dígitos.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59235"/>
            <a:ext cx="2081585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A9F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301725"/>
            <a:ext cx="236867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CAPÍTULO 1 · HITOS INFLACIONARIOS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3129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Picos Históricos del Siglo XX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257723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81%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96119" y="290266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Inflación 1989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320918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Tras el ajuste macroeconómico del programa «El Gran Viraje»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72433" y="2257723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103,2%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3272433" y="2902669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Inflación 1996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72433" y="320918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Pico histórico bajo la «Agenda Venezuela», máximo del siglo XX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48747" y="2257723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4,30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6048747" y="2902669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Bolívares por Dólar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48747" y="343063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Tipo de cambio fijo previo a la ruptura de estabilidad en 1983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665187" cy="107603"/>
          </a:xfrm>
          <a:prstGeom prst="roundRect">
            <a:avLst>
              <a:gd name="adj" fmla="val 22134"/>
            </a:avLst>
          </a:prstGeom>
          <a:noFill/>
          <a:ln w="4763">
            <a:solidFill>
              <a:srgbClr val="A9F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1037406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CAPÍTULO 2 · 1999–2016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Controles Cambiarios y Distorsiones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463329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CADIVI (2003)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96119" y="2609478"/>
            <a:ext cx="3989412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 implementó el control de cambio mediante la Comisión de Administración de Divisas. La brecha entre el tipo de cambio oficial y el paralelo se amplió drásticamente, generando incentivos para el arbitraje financiero («fuga de divisas») y desestimulando la producción nacional en favor de importaciones subsidiadas.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496119" y="2904455"/>
            <a:ext cx="3989412" cy="269230"/>
          </a:xfrm>
          <a:prstGeom prst="roundRect">
            <a:avLst>
              <a:gd name="adj" fmla="val 11058"/>
            </a:avLst>
          </a:prstGeom>
          <a:solidFill>
            <a:srgbClr val="54780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61" y="2957587"/>
            <a:ext cx="88553" cy="70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6356" y="2954015"/>
            <a:ext cx="368833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 esquema fiscal se volvió crecientemente dependiente de la renta petrolera y de la deuda, sin consolidar fondos de estabilización.</a:t>
            </a:r>
            <a:endParaRPr lang="en-US" sz="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232" y="825996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19026"/>
            <a:ext cx="2340025" cy="205234"/>
          </a:xfrm>
          <a:prstGeom prst="roundRect">
            <a:avLst>
              <a:gd name="adj" fmla="val 22122"/>
            </a:avLst>
          </a:prstGeom>
          <a:noFill/>
          <a:ln w="4763">
            <a:solidFill>
              <a:srgbClr val="A9F00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7155" y="459507"/>
            <a:ext cx="2635151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CAPÍTULO 2 · FINANCIAMIENTO MONETARIO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675754"/>
            <a:ext cx="4722763" cy="1266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La Gasolina que Encendió la Hiperinflación</a:t>
            </a:r>
            <a:endParaRPr lang="en-US" sz="2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35832"/>
            <a:ext cx="4722763" cy="12299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6430" y="2289944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Caída del Petróleo (2014)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26430" y="2578298"/>
            <a:ext cx="4338340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Al caer los precios del crudo, el gobierno recurrió sistemáticamente al BCV para financiar el déficit de empresas públicas, principalmente PDVSA.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494484"/>
            <a:ext cx="4722763" cy="12299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6430" y="3648596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Emisión Inorgánica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26430" y="3936950"/>
            <a:ext cx="4338340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creación desmedida de liquidez monetaria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sin respaldo en producción ni reservas internacionales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fue el detonante directo de la espiral hiperinflacionaria.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9931"/>
            <a:ext cx="1223442" cy="198462"/>
          </a:xfrm>
          <a:prstGeom prst="roundRect">
            <a:avLst>
              <a:gd name="adj" fmla="val 22126"/>
            </a:avLst>
          </a:prstGeom>
          <a:noFill/>
          <a:ln w="4763">
            <a:solidFill>
              <a:srgbClr val="A9F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4477" y="559073"/>
            <a:ext cx="1523926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CAPÍTULO 3 · 2017–2021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66539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La Espiral Hiperinflacionaria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19907"/>
            <a:ext cx="5187032" cy="29392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06703" y="1476077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El Umbral de Cagan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06703" y="1800671"/>
            <a:ext cx="2645866" cy="1004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 noviembre de 2017, Venezuela superó el umbral de hiperinflación definido por Phillip Cagan: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A9F00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inflación mensual superior al 50%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 El fenómeno se prolongó más de cuatro años.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6703" y="2925366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Consecuencias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06703" y="3249960"/>
            <a:ext cx="2645866" cy="13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Destrucción del bolívar como reserva de valor, unidad de cuenta y medio de pago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Pulverización de salarios reales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Migración masiva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Abandono espontáneo de la moneda nacional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5591"/>
            <a:ext cx="255270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A9F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488082"/>
            <a:ext cx="283978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CAPÍTULO 3 · RECONVERSIONES MONETARIAS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17649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Tres Reconversiones, 14 Ceros Menos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816224"/>
            <a:ext cx="8151763" cy="2268587"/>
          </a:xfrm>
          <a:prstGeom prst="roundRect">
            <a:avLst>
              <a:gd name="adj" fmla="val 262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0881" y="1820987"/>
            <a:ext cx="8142238" cy="6332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2789" y="1910804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Año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73573" y="1910804"/>
            <a:ext cx="3018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Denominación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3334" y="1910804"/>
            <a:ext cx="13401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Ceros Eliminados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51737" y="1910804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Escala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0881" y="2454250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2789" y="2544068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2008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73573" y="2544068"/>
            <a:ext cx="3018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Bolívar Fuerte (Bs. F.)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3334" y="254406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 ceros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51737" y="2544068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1.000 Bs → 1 Bs. F.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0881" y="286070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789" y="2950518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2018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73573" y="2950518"/>
            <a:ext cx="3018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Bolívar Soberano (Bs. S.)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3334" y="295051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 ceros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51737" y="2950518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100.000 Bs. F. → 1 Bs. 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0881" y="326714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2789" y="3356967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2021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73573" y="3356967"/>
            <a:ext cx="3018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Bolívar Digital (Bs.)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3334" y="3356967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 ceros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51737" y="3356967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1.000.000 Bs. S. → 1 Bs.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0881" y="367359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2789" y="3763417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Total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73573" y="3763417"/>
            <a:ext cx="3018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Acumulado 2008–2021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3334" y="3763417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14 ceros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51737" y="3763417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100 billones a 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6119" y="424428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Las reconversiones intentaron solventar la inoperatividad de los sistemas de cómputo ante cifras de exorbitante magnitud, pero no resolvieron las causas estructurales del colapso monetario.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3576"/>
            <a:ext cx="1200894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A9F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430783"/>
            <a:ext cx="150926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CAPÍTULO 4 · 2022–2026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25525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Dolarización De Facto y Medidas de Ajuste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770236"/>
            <a:ext cx="26564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Dolarización Transaccional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2266429"/>
            <a:ext cx="265643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Comercios, servicios y ciudadanos adoptaron espontáneamente dólares, euros y criptomonedas para fijar precios y realizar transacciones ante el colapso del bolívar.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6119" y="3119065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Medidas del BCV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3421410"/>
            <a:ext cx="2656433" cy="1192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Encaje legal elevado: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restricción del crédito bancario en bolívares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Intervención cambiaria: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venta semanal de divisas para estabilizar el tipo de cambio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b="1" dirty="0">
                <a:solidFill>
                  <a:srgbClr val="D7E5D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IGTF:</a:t>
            </a:r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impuesto a transacciones en divisas para incentivar el uso del bolívar electrónico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9882" y="1685404"/>
            <a:ext cx="5192688" cy="29424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3072"/>
            <a:ext cx="4722763" cy="1121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0F4F1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Conclusiones: Lecciones para la Estabilización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496119" y="1685776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0953" y="1708212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6105" y="1726853"/>
            <a:ext cx="435277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Independencia del Banco Central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66105" y="1974205"/>
            <a:ext cx="435277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autonomía monetaria es indispensable para evitar la emisión como mecanismo de financiamiento fiscal.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6119" y="2528739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0953" y="2551175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6105" y="2569815"/>
            <a:ext cx="435277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Disciplina Fiscal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6105" y="2817168"/>
            <a:ext cx="435277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Las cuentas públicas no pueden depender exclusivamente de ingresos volátiles por materias primas.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96119" y="3371701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547808"/>
          </a:solidFill>
          <a:ln w="4763">
            <a:solidFill>
              <a:srgbClr val="6D91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0953" y="3394137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6105" y="3412778"/>
            <a:ext cx="435277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7E5D8"/>
                </a:solidFill>
                <a:latin typeface="Syne ExtraBold" pitchFamily="34" charset="0"/>
                <a:ea typeface="Syne ExtraBold" pitchFamily="34" charset="-122"/>
                <a:cs typeface="Syne ExtraBold" pitchFamily="34" charset="-120"/>
              </a:rPr>
              <a:t>Confianza Institucional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66105" y="3660130"/>
            <a:ext cx="435277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Recuperar la moneda exige un marco institucional creíble que garantice seguridad jurídica e incentive la inversión productiva.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6119" y="4126334"/>
            <a:ext cx="4722763" cy="604093"/>
          </a:xfrm>
          <a:prstGeom prst="roundRect">
            <a:avLst>
              <a:gd name="adj" fmla="val 8316"/>
            </a:avLst>
          </a:prstGeom>
          <a:solidFill>
            <a:srgbClr val="54780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02" y="4271442"/>
            <a:ext cx="149498" cy="11958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84783" y="4257080"/>
            <a:ext cx="421451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Glosario clave: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Hiperinflación (&gt;50% mensual) · Dinero inorgánico (emisión sin respaldo) · Reconversión monetaria (eliminación de ceros)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2026-08-10T20:38:41Z</dcterms:created>
  <dcterms:modified xsi:type="dcterms:W3CDTF">2026-08-10T20:38:41Z</dcterms:modified>
</cp:coreProperties>
</file>