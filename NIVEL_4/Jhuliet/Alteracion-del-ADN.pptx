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Overpass"/>
      <p:regular r:id="rId201314"/>
    </p:embeddedFont>
    <p:embeddedFont>
      <p:font typeface="Overpass Bold"/>
      <p:regular r:id="rId201315"/>
    </p:embeddedFont>
    <p:embeddedFont>
      <p:font typeface="Overpass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2071688"/>
            <a:ext cx="4667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Alteración del ADN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577" y="2652936"/>
            <a:ext cx="4667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El futuro de la medicina genética para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eliminar la diabetes y el alzhéimer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 La revolución biomédica ya comenzó.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862286"/>
            <a:ext cx="4667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Reescribiendo nuestro destino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577" y="2443535"/>
            <a:ext cx="4667845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Durante milenios, enfermedades como la diabetes y el alzhéimer han sido una lotería del destino. Hoy estamos en el umbral de una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revolución biomédica sin precedentes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: ya no solo leemos el genoma, lo editamos, corregimos y reescribimos.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469901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El código de la vida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2116634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El ADN contiene el código que instruye a cada célula de nuestro cuerpo. Una mutación —un "error tipográfico"— puede dar lugar a patologías graves.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29295" y="2682701"/>
            <a:ext cx="4077295" cy="990898"/>
          </a:xfrm>
          <a:prstGeom prst="roundRect">
            <a:avLst>
              <a:gd name="adj" fmla="val 9512"/>
            </a:avLst>
          </a:prstGeom>
          <a:solidFill>
            <a:srgbClr val="F20374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0189" y="2813596"/>
            <a:ext cx="381550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000000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0189" y="3136999"/>
            <a:ext cx="3815507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Mutaciones en el ADN causan enfermedades hereditarias y degenerativas que durante siglos han sido inabordables.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36455" y="2813596"/>
            <a:ext cx="388873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36455" y="3136999"/>
            <a:ext cx="3888730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La edición genética permite corregir esos errores con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precisión nanométrica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, abriendo la puerta a curas reales.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396925"/>
            <a:ext cx="4667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Las tijeras moleculares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52577" y="978173"/>
            <a:ext cx="4667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CRISPR-Cas9 es la herramienta que hace posible la edición genética. Su funcionamiento se resume en tres pasos precisos: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2577" y="1544241"/>
            <a:ext cx="4667845" cy="98018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28120" y="1911623"/>
            <a:ext cx="196304" cy="2454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spc="-46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4621337" y="1689422"/>
            <a:ext cx="385390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Buscar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621337" y="1960438"/>
            <a:ext cx="3853904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El ARN guía localiza la secuencia de ADN defectuosa con exactitud molecular.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2577" y="2655317"/>
            <a:ext cx="4667845" cy="98018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28120" y="3022699"/>
            <a:ext cx="196304" cy="2454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spc="-46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4621337" y="2800499"/>
            <a:ext cx="385390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Cortar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621337" y="3071515"/>
            <a:ext cx="3853904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La enzima Cas9 realiza un corte preciso en la doble hélice del ADN.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2577" y="3766393"/>
            <a:ext cx="4667845" cy="9801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128120" y="4133776"/>
            <a:ext cx="196304" cy="2454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spc="-46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4621337" y="3911575"/>
            <a:ext cx="385390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Reparar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621337" y="4182591"/>
            <a:ext cx="3853904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 introduce ADN corregido que la célula adopta como propio de forma natural.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322710"/>
            <a:ext cx="4667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Hackeando la Diabetes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577" y="1969368"/>
            <a:ext cx="4667845" cy="43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b="1" spc="-102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500M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23577" y="2564904"/>
            <a:ext cx="466784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Personas afectadas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23577" y="2835920"/>
            <a:ext cx="4667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En todo el mundo viven con diabetes. La insulina salva vidas, pero es un parche, no una cura.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23577" y="3401988"/>
            <a:ext cx="4667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La edición genética propone abordajes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radicalmente innovadores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para las dos variantes principales de la enfermedad.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1570286"/>
            <a:ext cx="956816" cy="198834"/>
          </a:xfrm>
          <a:prstGeom prst="roundRect">
            <a:avLst>
              <a:gd name="adj" fmla="val 22122"/>
            </a:avLst>
          </a:prstGeom>
          <a:solidFill>
            <a:srgbClr val="4C0124"/>
          </a:solidFill>
          <a:ln/>
        </p:spPr>
      </p:sp>
      <p:sp>
        <p:nvSpPr>
          <p:cNvPr id="3" name="Text 1"/>
          <p:cNvSpPr/>
          <p:nvPr/>
        </p:nvSpPr>
        <p:spPr>
          <a:xfrm>
            <a:off x="602084" y="1609502"/>
            <a:ext cx="1257002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DIABETES TIPO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1821433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Reprogramando la inmunidad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3577" y="2402681"/>
            <a:ext cx="3982938" cy="1170533"/>
          </a:xfrm>
          <a:prstGeom prst="roundRect">
            <a:avLst>
              <a:gd name="adj" fmla="val 4697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9234" y="2538338"/>
            <a:ext cx="371162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Nuevas células beta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9234" y="2809354"/>
            <a:ext cx="371162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Células madre del paciente se reprograman en laboratorio para producir insulina de manera eficiente.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37410" y="2402681"/>
            <a:ext cx="3983013" cy="1170533"/>
          </a:xfrm>
          <a:prstGeom prst="roundRect">
            <a:avLst>
              <a:gd name="adj" fmla="val 4697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067" y="2538338"/>
            <a:ext cx="371169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Camuflaje genético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3067" y="2809354"/>
            <a:ext cx="3711699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CRISPR elimina proteínas de superficie para hacer las células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"invisibles"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al sistema inmune, sin necesidad de inmunosupresores.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1282154"/>
            <a:ext cx="981819" cy="198834"/>
          </a:xfrm>
          <a:prstGeom prst="roundRect">
            <a:avLst>
              <a:gd name="adj" fmla="val 22122"/>
            </a:avLst>
          </a:prstGeom>
          <a:solidFill>
            <a:srgbClr val="4C0124"/>
          </a:solidFill>
          <a:ln/>
        </p:spPr>
      </p:sp>
      <p:sp>
        <p:nvSpPr>
          <p:cNvPr id="3" name="Text 1"/>
          <p:cNvSpPr/>
          <p:nvPr/>
        </p:nvSpPr>
        <p:spPr>
          <a:xfrm>
            <a:off x="602084" y="1321371"/>
            <a:ext cx="1282005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DIABETES TIPO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1533302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Modificación metabólica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3577" y="2114550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Aunque correlacionada con el estilo de vida, la diabetes tipo 2 tiene una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carga genética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que determina la resistencia a la insulina. La edición genética aborda tres frentes clave: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2680618"/>
            <a:ext cx="327273" cy="327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3577" y="3171527"/>
            <a:ext cx="396656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Hígado y tejido adiposo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3577" y="3442543"/>
            <a:ext cx="3966567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 activan genes que mejoran el procesamiento de glucosa y la sensibilidad a la insulina.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3781" y="2680618"/>
            <a:ext cx="327273" cy="327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53781" y="3171527"/>
            <a:ext cx="396664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Silenciar inflamación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653781" y="3442543"/>
            <a:ext cx="3966642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 silencian genes que promueven la inflamación crónica, raíz de muchas complicaciones.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139279"/>
            <a:ext cx="4667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Borrando el Alzheimer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577" y="1720528"/>
            <a:ext cx="4667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El alzhéimer causa acumulación tóxica de proteínas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beta-amiloide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y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tau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, desencadenando muerte neuronal masiva. La clave está en el gen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APOE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23577" y="2286595"/>
            <a:ext cx="4667845" cy="1717625"/>
          </a:xfrm>
          <a:prstGeom prst="roundRect">
            <a:avLst>
              <a:gd name="adj" fmla="val 3201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8340" y="2291358"/>
            <a:ext cx="4658320" cy="756493"/>
          </a:xfrm>
          <a:custGeom>
            <a:avLst/>
            <a:gdLst/>
            <a:ahLst/>
            <a:cxnLst/>
            <a:rect l="l" t="t" r="r" b="b"/>
            <a:pathLst>
              <a:path w="4658320" h="756493">
                <a:moveTo>
                  <a:pt x="45819" y="0"/>
                </a:moveTo>
                <a:lnTo>
                  <a:pt x="4612501" y="0"/>
                </a:lnTo>
                <a:arcTo hR="45819" wR="45819" stAng="16200000" swAng="5400000"/>
                <a:lnTo>
                  <a:pt x="4658320" y="756493"/>
                </a:lnTo>
                <a:lnTo>
                  <a:pt x="0" y="756493"/>
                </a:lnTo>
                <a:lnTo>
                  <a:pt x="0" y="45819"/>
                </a:lnTo>
                <a:arcTo hR="45819" wR="45819" stAng="10800000" swAng="5400000"/>
                <a:close/>
              </a:path>
            </a:pathLst>
          </a:custGeom>
          <a:solidFill>
            <a:srgbClr val="7E023C"/>
          </a:solidFill>
          <a:ln/>
        </p:spPr>
      </p:sp>
      <p:sp>
        <p:nvSpPr>
          <p:cNvPr id="7" name="Text 4"/>
          <p:cNvSpPr/>
          <p:nvPr/>
        </p:nvSpPr>
        <p:spPr>
          <a:xfrm>
            <a:off x="659234" y="2422252"/>
            <a:ext cx="4396532" cy="206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APOE e4 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9234" y="2707556"/>
            <a:ext cx="4396532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Incrementa dramáticamente el riesgo de desarrollar alzhéimer.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28340" y="3047851"/>
            <a:ext cx="4658320" cy="951607"/>
          </a:xfrm>
          <a:custGeom>
            <a:avLst/>
            <a:gdLst/>
            <a:ahLst/>
            <a:cxnLst/>
            <a:rect l="l" t="t" r="r" b="b"/>
            <a:pathLst>
              <a:path w="4658320" h="951607">
                <a:moveTo>
                  <a:pt x="0" y="0"/>
                </a:moveTo>
                <a:lnTo>
                  <a:pt x="4658320" y="0"/>
                </a:lnTo>
                <a:lnTo>
                  <a:pt x="4658320" y="905788"/>
                </a:lnTo>
                <a:arcTo hR="45819" wR="45819" stAng="0" swAng="5400000"/>
                <a:lnTo>
                  <a:pt x="45819" y="951607"/>
                </a:lnTo>
                <a:arcTo hR="45819" wR="45819" stAng="5400000" swAng="5400000"/>
                <a:lnTo>
                  <a:pt x="0" y="0"/>
                </a:lnTo>
                <a:close/>
              </a:path>
            </a:pathLst>
          </a:custGeom>
          <a:solidFill>
            <a:srgbClr val="7E023C"/>
          </a:solidFill>
          <a:ln/>
        </p:spPr>
      </p:sp>
      <p:sp>
        <p:nvSpPr>
          <p:cNvPr id="10" name="Shape 7"/>
          <p:cNvSpPr/>
          <p:nvPr/>
        </p:nvSpPr>
        <p:spPr>
          <a:xfrm>
            <a:off x="528340" y="3047851"/>
            <a:ext cx="4658320" cy="14288"/>
          </a:xfrm>
          <a:prstGeom prst="roundRect">
            <a:avLst>
              <a:gd name="adj" fmla="val 49998"/>
            </a:avLst>
          </a:prstGeom>
          <a:solidFill>
            <a:srgbClr val="971B55"/>
          </a:solidFill>
          <a:ln/>
        </p:spPr>
      </p:sp>
      <p:sp>
        <p:nvSpPr>
          <p:cNvPr id="11" name="Text 8"/>
          <p:cNvSpPr/>
          <p:nvPr/>
        </p:nvSpPr>
        <p:spPr>
          <a:xfrm>
            <a:off x="659234" y="3178746"/>
            <a:ext cx="439653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APOE e2 ✓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9234" y="3449762"/>
            <a:ext cx="4396532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Confere protección natural; los portadores son resistentes incluso en la vejez.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541711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Bioética: ¿Hasta dónde llegar?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2188443"/>
            <a:ext cx="2611636" cy="14132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5909" y="2333625"/>
            <a:ext cx="2264122" cy="206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Riesgo Off-Target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25909" y="2618929"/>
            <a:ext cx="226412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Cas9 podría cortar en secuencias incorrectas y activar oncogenes. Se buscan enzimas con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100% de especificidad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6108" y="2188443"/>
            <a:ext cx="2611710" cy="14132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68439" y="2333625"/>
            <a:ext cx="226419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✓ Células somáticas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468439" y="2604641"/>
            <a:ext cx="2264197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Edición en tejidos adultos: aceptada éticamente, ya que los cambios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no se heredan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a futuras generaciones.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8712" y="2188443"/>
            <a:ext cx="2611710" cy="14132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1044" y="2333625"/>
            <a:ext cx="226419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✘ Línea germinal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211044" y="2604641"/>
            <a:ext cx="2264197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Alterar espermatozoides u óvulos pasa cambios a futuras generaciones. Abre la puerta a la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eugenesia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y los "bebés de diseño".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329705"/>
            <a:ext cx="4667845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El amanecer de una nueva medicina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577" y="2295897"/>
            <a:ext cx="4667845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Los ensayos clínicos ya están en curso. Estamos transitando de una medicina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paliativa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a una verdaderamente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curativa y restauradora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 Seremos la primera generación capaz de decidir no ser víctimas de nuestros propios genes.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23577" y="3071366"/>
            <a:ext cx="4667845" cy="742355"/>
          </a:xfrm>
          <a:prstGeom prst="roundRect">
            <a:avLst>
              <a:gd name="adj" fmla="val 7407"/>
            </a:avLst>
          </a:prstGeom>
          <a:solidFill>
            <a:srgbClr val="7E023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72" y="3258443"/>
            <a:ext cx="163637" cy="1308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9003" y="3234928"/>
            <a:ext cx="4111526" cy="4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🗨️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¿Te parece ético editar el ADN humano?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Comparte este artículo y etiqueta a alguien que deba conocerlo.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2026-08-10T20:39:04Z</dcterms:created>
  <dcterms:modified xsi:type="dcterms:W3CDTF">2026-08-10T20:39:04Z</dcterms:modified>
</cp:coreProperties>
</file>